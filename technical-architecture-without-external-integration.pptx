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0C8FE-62F0-0385-7C10-8904F59A4BC5}" v="15" dt="2026-08-25T06:00:04.445"/>
    <p1510:client id="{D525BCB6-2E4D-41EE-B5A7-8B902F309469}" v="36" dt="2026-08-25T04:59:02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, Imran - Ext" userId="S::imkhan.ext@deloitte.com::aa6767c5-0e73-4cf5-93c6-d48fe16e6a85" providerId="AD" clId="Web-{8B90C8FE-62F0-0385-7C10-8904F59A4BC5}"/>
    <pc:docChg chg="modSld">
      <pc:chgData name="Khan, Imran - Ext" userId="S::imkhan.ext@deloitte.com::aa6767c5-0e73-4cf5-93c6-d48fe16e6a85" providerId="AD" clId="Web-{8B90C8FE-62F0-0385-7C10-8904F59A4BC5}" dt="2026-08-25T05:59:28.601" v="1"/>
      <pc:docMkLst>
        <pc:docMk/>
      </pc:docMkLst>
      <pc:sldChg chg="modSp">
        <pc:chgData name="Khan, Imran - Ext" userId="S::imkhan.ext@deloitte.com::aa6767c5-0e73-4cf5-93c6-d48fe16e6a85" providerId="AD" clId="Web-{8B90C8FE-62F0-0385-7C10-8904F59A4BC5}" dt="2026-08-25T05:59:28.601" v="1"/>
        <pc:sldMkLst>
          <pc:docMk/>
          <pc:sldMk cId="0" sldId="259"/>
        </pc:sldMkLst>
        <pc:graphicFrameChg chg="mod modGraphic">
          <ac:chgData name="Khan, Imran - Ext" userId="S::imkhan.ext@deloitte.com::aa6767c5-0e73-4cf5-93c6-d48fe16e6a85" providerId="AD" clId="Web-{8B90C8FE-62F0-0385-7C10-8904F59A4BC5}" dt="2026-08-25T05:59:28.601" v="1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</pc:docChg>
  </pc:docChgLst>
  <pc:docChgLst>
    <pc:chgData name="Singh, Ankur" userId="acf8f678-3e1d-4ee2-94b4-3b8df5dee0a4" providerId="ADAL" clId="{8A3328A5-DE1B-48B0-8094-4A35CDAB4E4B}"/>
    <pc:docChg chg="undo custSel modSld">
      <pc:chgData name="Singh, Ankur" userId="acf8f678-3e1d-4ee2-94b4-3b8df5dee0a4" providerId="ADAL" clId="{8A3328A5-DE1B-48B0-8094-4A35CDAB4E4B}" dt="2026-08-25T04:59:51.057" v="560" actId="1076"/>
      <pc:docMkLst>
        <pc:docMk/>
      </pc:docMkLst>
      <pc:sldChg chg="addSp delSp modSp mod">
        <pc:chgData name="Singh, Ankur" userId="acf8f678-3e1d-4ee2-94b4-3b8df5dee0a4" providerId="ADAL" clId="{8A3328A5-DE1B-48B0-8094-4A35CDAB4E4B}" dt="2026-08-25T04:59:51.057" v="560" actId="1076"/>
        <pc:sldMkLst>
          <pc:docMk/>
          <pc:sldMk cId="0" sldId="256"/>
        </pc:sldMkLst>
        <pc:spChg chg="mod">
          <ac:chgData name="Singh, Ankur" userId="acf8f678-3e1d-4ee2-94b4-3b8df5dee0a4" providerId="ADAL" clId="{8A3328A5-DE1B-48B0-8094-4A35CDAB4E4B}" dt="2026-08-25T03:30:26.006" v="5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30:45.510" v="22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31:12.359" v="42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31:34.810" v="59"/>
          <ac:spMkLst>
            <pc:docMk/>
            <pc:sldMk cId="0" sldId="256"/>
            <ac:spMk id="38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31:53.256" v="7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5:32.398" v="290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32:37.104" v="96" actId="2057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48:16.591" v="438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2:41.965" v="124" actId="20577"/>
          <ac:spMkLst>
            <pc:docMk/>
            <pc:sldMk cId="0" sldId="256"/>
            <ac:spMk id="79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2:55.208" v="138" actId="20577"/>
          <ac:spMkLst>
            <pc:docMk/>
            <pc:sldMk cId="0" sldId="256"/>
            <ac:spMk id="81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3:30.271" v="155" actId="20577"/>
          <ac:spMkLst>
            <pc:docMk/>
            <pc:sldMk cId="0" sldId="256"/>
            <ac:spMk id="83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3:57.213" v="210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4:11.164" v="230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4:51.427" v="284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0T05:16:55.821" v="4"/>
          <ac:spMkLst>
            <pc:docMk/>
            <pc:sldMk cId="0" sldId="256"/>
            <ac:spMk id="93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48:05.535" v="433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3:44:40.792" v="275" actId="2057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9:51.057" v="560" actId="1076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49:01.683" v="464" actId="14100"/>
          <ac:spMkLst>
            <pc:docMk/>
            <pc:sldMk cId="0" sldId="256"/>
            <ac:spMk id="132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6:57.809" v="520" actId="1076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7:17.411" v="531" actId="20577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8:12.329" v="540" actId="1076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8:22.701" v="549" actId="20577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41:01.293" v="415" actId="1076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37:20.321" v="388" actId="20577"/>
          <ac:spMkLst>
            <pc:docMk/>
            <pc:sldMk cId="0" sldId="256"/>
            <ac:spMk id="143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37:12.935" v="385" actId="1076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37:54.456" v="403" actId="20577"/>
          <ac:spMkLst>
            <pc:docMk/>
            <pc:sldMk cId="0" sldId="256"/>
            <ac:spMk id="145" creationId="{00000000-0000-0000-0000-000000000000}"/>
          </ac:spMkLst>
        </pc:spChg>
        <pc:spChg chg="mod">
          <ac:chgData name="Singh, Ankur" userId="acf8f678-3e1d-4ee2-94b4-3b8df5dee0a4" providerId="ADAL" clId="{8A3328A5-DE1B-48B0-8094-4A35CDAB4E4B}" dt="2026-08-25T04:53:02.349" v="488" actId="1076"/>
          <ac:spMkLst>
            <pc:docMk/>
            <pc:sldMk cId="0" sldId="256"/>
            <ac:spMk id="148" creationId="{00000000-0000-0000-0000-000000000000}"/>
          </ac:spMkLst>
        </pc:spChg>
        <pc:spChg chg="add">
          <ac:chgData name="Singh, Ankur" userId="acf8f678-3e1d-4ee2-94b4-3b8df5dee0a4" providerId="ADAL" clId="{8A3328A5-DE1B-48B0-8094-4A35CDAB4E4B}" dt="2026-08-25T04:42:47.775" v="417"/>
          <ac:spMkLst>
            <pc:docMk/>
            <pc:sldMk cId="0" sldId="256"/>
            <ac:spMk id="182" creationId="{0C1A2AF7-B4A8-E094-CAD7-A631F6CDDC73}"/>
          </ac:spMkLst>
        </pc:spChg>
        <pc:spChg chg="add">
          <ac:chgData name="Singh, Ankur" userId="acf8f678-3e1d-4ee2-94b4-3b8df5dee0a4" providerId="ADAL" clId="{8A3328A5-DE1B-48B0-8094-4A35CDAB4E4B}" dt="2026-08-25T04:42:56.764" v="418"/>
          <ac:spMkLst>
            <pc:docMk/>
            <pc:sldMk cId="0" sldId="256"/>
            <ac:spMk id="183" creationId="{9DB8BC58-2AE5-A59A-93DF-4DD4B2F4DAC4}"/>
          </ac:spMkLst>
        </pc:spChg>
        <pc:picChg chg="add mod">
          <ac:chgData name="Singh, Ankur" userId="acf8f678-3e1d-4ee2-94b4-3b8df5dee0a4" providerId="ADAL" clId="{8A3328A5-DE1B-48B0-8094-4A35CDAB4E4B}" dt="2026-08-25T04:37:06.285" v="384" actId="27349"/>
          <ac:picMkLst>
            <pc:docMk/>
            <pc:sldMk cId="0" sldId="256"/>
            <ac:picMk id="177" creationId="{8706407C-4C3E-DCB1-BFA1-9DC32E29BAC4}"/>
          </ac:picMkLst>
        </pc:picChg>
        <pc:picChg chg="add del mod">
          <ac:chgData name="Singh, Ankur" userId="acf8f678-3e1d-4ee2-94b4-3b8df5dee0a4" providerId="ADAL" clId="{8A3328A5-DE1B-48B0-8094-4A35CDAB4E4B}" dt="2026-08-25T04:41:16.048" v="416" actId="478"/>
          <ac:picMkLst>
            <pc:docMk/>
            <pc:sldMk cId="0" sldId="256"/>
            <ac:picMk id="179" creationId="{772943A4-955E-6F40-0690-737081443CC7}"/>
          </ac:picMkLst>
        </pc:picChg>
        <pc:picChg chg="add mod">
          <ac:chgData name="Singh, Ankur" userId="acf8f678-3e1d-4ee2-94b4-3b8df5dee0a4" providerId="ADAL" clId="{8A3328A5-DE1B-48B0-8094-4A35CDAB4E4B}" dt="2026-08-25T04:40:59.715" v="414" actId="14100"/>
          <ac:picMkLst>
            <pc:docMk/>
            <pc:sldMk cId="0" sldId="256"/>
            <ac:picMk id="181" creationId="{541BAA66-83ED-827D-1189-85775FF31F6B}"/>
          </ac:picMkLst>
        </pc:picChg>
        <pc:picChg chg="add mod">
          <ac:chgData name="Singh, Ankur" userId="acf8f678-3e1d-4ee2-94b4-3b8df5dee0a4" providerId="ADAL" clId="{8A3328A5-DE1B-48B0-8094-4A35CDAB4E4B}" dt="2026-08-25T04:44:30.181" v="429" actId="14100"/>
          <ac:picMkLst>
            <pc:docMk/>
            <pc:sldMk cId="0" sldId="256"/>
            <ac:picMk id="185" creationId="{A953873F-8E9A-97AE-3D73-D08E214AE38C}"/>
          </ac:picMkLst>
        </pc:picChg>
        <pc:picChg chg="add mod">
          <ac:chgData name="Singh, Ankur" userId="acf8f678-3e1d-4ee2-94b4-3b8df5dee0a4" providerId="ADAL" clId="{8A3328A5-DE1B-48B0-8094-4A35CDAB4E4B}" dt="2026-08-25T04:46:34.437" v="430" actId="931"/>
          <ac:picMkLst>
            <pc:docMk/>
            <pc:sldMk cId="0" sldId="256"/>
            <ac:picMk id="187" creationId="{444DF2DD-EEA9-F777-5C84-0CA02A3D52ED}"/>
          </ac:picMkLst>
        </pc:picChg>
        <pc:picChg chg="add mod">
          <ac:chgData name="Singh, Ankur" userId="acf8f678-3e1d-4ee2-94b4-3b8df5dee0a4" providerId="ADAL" clId="{8A3328A5-DE1B-48B0-8094-4A35CDAB4E4B}" dt="2026-08-25T04:49:14.388" v="465" actId="1076"/>
          <ac:picMkLst>
            <pc:docMk/>
            <pc:sldMk cId="0" sldId="256"/>
            <ac:picMk id="189" creationId="{BD28534D-8350-4842-121C-CD413FEF8105}"/>
          </ac:picMkLst>
        </pc:picChg>
        <pc:picChg chg="add mod">
          <ac:chgData name="Singh, Ankur" userId="acf8f678-3e1d-4ee2-94b4-3b8df5dee0a4" providerId="ADAL" clId="{8A3328A5-DE1B-48B0-8094-4A35CDAB4E4B}" dt="2026-08-25T04:54:06.834" v="497" actId="14100"/>
          <ac:picMkLst>
            <pc:docMk/>
            <pc:sldMk cId="0" sldId="256"/>
            <ac:picMk id="191" creationId="{3FF6B613-29D3-6F21-2654-C12041E6A733}"/>
          </ac:picMkLst>
        </pc:picChg>
        <pc:picChg chg="add mod">
          <ac:chgData name="Singh, Ankur" userId="acf8f678-3e1d-4ee2-94b4-3b8df5dee0a4" providerId="ADAL" clId="{8A3328A5-DE1B-48B0-8094-4A35CDAB4E4B}" dt="2026-08-25T04:53:42.634" v="493" actId="1076"/>
          <ac:picMkLst>
            <pc:docMk/>
            <pc:sldMk cId="0" sldId="256"/>
            <ac:picMk id="193" creationId="{6FF62A07-B840-8870-8817-EE94050D6BAC}"/>
          </ac:picMkLst>
        </pc:picChg>
        <pc:picChg chg="add mod">
          <ac:chgData name="Singh, Ankur" userId="acf8f678-3e1d-4ee2-94b4-3b8df5dee0a4" providerId="ADAL" clId="{8A3328A5-DE1B-48B0-8094-4A35CDAB4E4B}" dt="2026-08-25T04:55:44.518" v="508" actId="27349"/>
          <ac:picMkLst>
            <pc:docMk/>
            <pc:sldMk cId="0" sldId="256"/>
            <ac:picMk id="195" creationId="{875DD72B-12F8-AD27-38F3-A3CD0AFD2C99}"/>
          </ac:picMkLst>
        </pc:picChg>
        <pc:picChg chg="add mod">
          <ac:chgData name="Singh, Ankur" userId="acf8f678-3e1d-4ee2-94b4-3b8df5dee0a4" providerId="ADAL" clId="{8A3328A5-DE1B-48B0-8094-4A35CDAB4E4B}" dt="2026-08-25T04:57:10.170" v="521" actId="1076"/>
          <ac:picMkLst>
            <pc:docMk/>
            <pc:sldMk cId="0" sldId="256"/>
            <ac:picMk id="197" creationId="{EA5A1F62-43EE-1303-9BE1-196785AE81E3}"/>
          </ac:picMkLst>
        </pc:picChg>
        <pc:picChg chg="add mod">
          <ac:chgData name="Singh, Ankur" userId="acf8f678-3e1d-4ee2-94b4-3b8df5dee0a4" providerId="ADAL" clId="{8A3328A5-DE1B-48B0-8094-4A35CDAB4E4B}" dt="2026-08-25T04:58:11.358" v="539" actId="1076"/>
          <ac:picMkLst>
            <pc:docMk/>
            <pc:sldMk cId="0" sldId="256"/>
            <ac:picMk id="199" creationId="{FF86CE42-44EC-BEDA-86D8-EB0948EB9025}"/>
          </ac:picMkLst>
        </pc:picChg>
        <pc:picChg chg="add mod">
          <ac:chgData name="Singh, Ankur" userId="acf8f678-3e1d-4ee2-94b4-3b8df5dee0a4" providerId="ADAL" clId="{8A3328A5-DE1B-48B0-8094-4A35CDAB4E4B}" dt="2026-08-25T04:59:49.770" v="559" actId="14100"/>
          <ac:picMkLst>
            <pc:docMk/>
            <pc:sldMk cId="0" sldId="256"/>
            <ac:picMk id="201" creationId="{07B6F493-9BAE-1004-E69B-17EE04DF9CC6}"/>
          </ac:picMkLst>
        </pc:picChg>
      </pc:sldChg>
      <pc:sldChg chg="modSp mod">
        <pc:chgData name="Singh, Ankur" userId="acf8f678-3e1d-4ee2-94b4-3b8df5dee0a4" providerId="ADAL" clId="{8A3328A5-DE1B-48B0-8094-4A35CDAB4E4B}" dt="2026-08-25T04:32:56.866" v="375" actId="14734"/>
        <pc:sldMkLst>
          <pc:docMk/>
          <pc:sldMk cId="0" sldId="258"/>
        </pc:sldMkLst>
        <pc:graphicFrameChg chg="modGraphic">
          <ac:chgData name="Singh, Ankur" userId="acf8f678-3e1d-4ee2-94b4-3b8df5dee0a4" providerId="ADAL" clId="{8A3328A5-DE1B-48B0-8094-4A35CDAB4E4B}" dt="2026-08-25T04:32:56.866" v="375" actId="14734"/>
          <ac:graphicFrameMkLst>
            <pc:docMk/>
            <pc:sldMk cId="0" sldId="258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02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594360"/>
            <a:ext cx="292608" cy="5806440"/>
          </a:xfrm>
          <a:prstGeom prst="rect">
            <a:avLst/>
          </a:prstGeom>
          <a:solidFill>
            <a:srgbClr val="34558A"/>
          </a:solidFill>
          <a:ln w="12700">
            <a:solidFill>
              <a:srgbClr val="3455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 rot="16200000">
            <a:off x="-1234440" y="33512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API / ETL / EVENT STREAMS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268712" y="594360"/>
            <a:ext cx="16916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68712" y="594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268712" y="932688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87000" y="941832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268712" y="1371600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7000" y="1380744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 Management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268712" y="181051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287000" y="1819656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268712" y="2249424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87000" y="2258568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268712" y="2688336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287000" y="269748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Management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268712" y="3127248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287000" y="3136392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Management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268712" y="3675888"/>
            <a:ext cx="16916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268712" y="36758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SECURITY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268712" y="4023360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87000" y="4032504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268712" y="4462272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287000" y="4471416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268712" y="4901184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287000" y="4910328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CERT-In Compliance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268712" y="5340096"/>
            <a:ext cx="1691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287000" y="5349240"/>
            <a:ext cx="1655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0080" y="658368"/>
            <a:ext cx="9491472" cy="96012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3232" y="713232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9808" y="713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704088"/>
            <a:ext cx="9491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 / PWA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" y="987552"/>
            <a:ext cx="1799539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95528" y="978408"/>
            <a:ext cx="1762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/>
              <a:t>SYSTEM_ADMIN</a:t>
            </a:r>
          </a:p>
        </p:txBody>
      </p:sp>
      <p:sp>
        <p:nvSpPr>
          <p:cNvPr id="35" name="Shape 33"/>
          <p:cNvSpPr/>
          <p:nvPr/>
        </p:nvSpPr>
        <p:spPr>
          <a:xfrm>
            <a:off x="2631643" y="969264"/>
            <a:ext cx="1799539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649931" y="978408"/>
            <a:ext cx="1762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/>
              <a:t>IC_DIVISION_HEAD</a:t>
            </a:r>
          </a:p>
        </p:txBody>
      </p:sp>
      <p:sp>
        <p:nvSpPr>
          <p:cNvPr id="37" name="Shape 35"/>
          <p:cNvSpPr/>
          <p:nvPr/>
        </p:nvSpPr>
        <p:spPr>
          <a:xfrm>
            <a:off x="4486046" y="969264"/>
            <a:ext cx="1799539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04334" y="978408"/>
            <a:ext cx="1762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/>
              <a:t>DELEGATION_LEADER</a:t>
            </a:r>
          </a:p>
        </p:txBody>
      </p:sp>
      <p:sp>
        <p:nvSpPr>
          <p:cNvPr id="39" name="Shape 37"/>
          <p:cNvSpPr/>
          <p:nvPr/>
        </p:nvSpPr>
        <p:spPr>
          <a:xfrm>
            <a:off x="6340450" y="969264"/>
            <a:ext cx="1799539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58738" y="978408"/>
            <a:ext cx="1762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/>
              <a:t>COORDINATOR</a:t>
            </a:r>
          </a:p>
        </p:txBody>
      </p:sp>
      <p:sp>
        <p:nvSpPr>
          <p:cNvPr id="41" name="Shape 39"/>
          <p:cNvSpPr/>
          <p:nvPr/>
        </p:nvSpPr>
        <p:spPr>
          <a:xfrm>
            <a:off x="8194853" y="969264"/>
            <a:ext cx="1799539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8213141" y="978408"/>
            <a:ext cx="176296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/>
              <a:t>MEMBER/VIEWER</a:t>
            </a:r>
          </a:p>
        </p:txBody>
      </p:sp>
      <p:sp>
        <p:nvSpPr>
          <p:cNvPr id="43" name="Shape 41"/>
          <p:cNvSpPr/>
          <p:nvPr/>
        </p:nvSpPr>
        <p:spPr>
          <a:xfrm>
            <a:off x="777240" y="1316736"/>
            <a:ext cx="921715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95528" y="1325880"/>
            <a:ext cx="9180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 |  WCAG Compliant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" y="1709928"/>
            <a:ext cx="9491472" cy="566928"/>
          </a:xfrm>
          <a:prstGeom prst="roundRect">
            <a:avLst>
              <a:gd name="adj" fmla="val 48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13232" y="1764792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49808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77240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95528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 Encryption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322576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340864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/ OIDC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67912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886200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413248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431536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58584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976872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503920" y="19842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522208" y="19933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40080" y="2368296"/>
            <a:ext cx="9491472" cy="566928"/>
          </a:xfrm>
          <a:prstGeom prst="roundRect">
            <a:avLst>
              <a:gd name="adj" fmla="val 48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13232" y="2423160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49808" y="2423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SERVICES LAYER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7240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95528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322576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2340864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Rate Limiting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867912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886200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413248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431536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Monitoring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958584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976872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Validation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503920" y="2642616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8522208" y="2651760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Routing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64464" y="3063240"/>
            <a:ext cx="9491472" cy="1600200"/>
          </a:xfrm>
          <a:prstGeom prst="roundRect">
            <a:avLst>
              <a:gd name="adj" fmla="val 1714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13232" y="3081528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49808" y="3081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APPLICATION SERVICES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77240" y="3337560"/>
            <a:ext cx="1351483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95528" y="3346704"/>
            <a:ext cx="13149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Service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183587" y="3337560"/>
            <a:ext cx="1351483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2201875" y="3346704"/>
            <a:ext cx="13149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Service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589934" y="3337560"/>
            <a:ext cx="1351483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3" name="Text 81"/>
          <p:cNvSpPr/>
          <p:nvPr/>
        </p:nvSpPr>
        <p:spPr>
          <a:xfrm>
            <a:off x="3608222" y="3346704"/>
            <a:ext cx="13149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Service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996282" y="3337560"/>
            <a:ext cx="1351483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014570" y="3346704"/>
            <a:ext cx="13149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Document Service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402629" y="3337560"/>
            <a:ext cx="1351483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420917" y="3346704"/>
            <a:ext cx="131490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Service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77240" y="3758184"/>
            <a:ext cx="1703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795528" y="3767328"/>
            <a:ext cx="16664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 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2535174" y="3758184"/>
            <a:ext cx="1703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553462" y="3767328"/>
            <a:ext cx="16664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Engine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293108" y="3758184"/>
            <a:ext cx="1703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311396" y="3767328"/>
            <a:ext cx="16664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Service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038749" y="3648456"/>
            <a:ext cx="170307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069330" y="3767328"/>
            <a:ext cx="16664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User service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777240" y="4178808"/>
            <a:ext cx="22890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795528" y="4187952"/>
            <a:ext cx="2252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Lineage Management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3121152" y="4178808"/>
            <a:ext cx="22890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3139440" y="4187952"/>
            <a:ext cx="2252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File Management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5465064" y="4178808"/>
            <a:ext cx="22890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5483352" y="4187952"/>
            <a:ext cx="2252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Monitoring Services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872984" y="3044952"/>
            <a:ext cx="2103120" cy="219456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7909560" y="306324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MANAGEMENT SYSTEM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7872984" y="3264408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7857370" y="3255264"/>
            <a:ext cx="20665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7872984" y="3410712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7909560" y="3410712"/>
            <a:ext cx="20665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7872984" y="3547872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7909560" y="3557016"/>
            <a:ext cx="20665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Policies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7872984" y="3685032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7909560" y="3703320"/>
            <a:ext cx="2066544" cy="15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7872984" y="3803904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7909560" y="3831336"/>
            <a:ext cx="2066544" cy="15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7857370" y="3968323"/>
            <a:ext cx="2103120" cy="201168"/>
          </a:xfrm>
          <a:prstGeom prst="roundRect">
            <a:avLst>
              <a:gd name="adj" fmla="val 18182"/>
            </a:avLst>
          </a:prstGeom>
          <a:solidFill>
            <a:srgbClr val="1B3A6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7909560" y="3984024"/>
            <a:ext cx="2066544" cy="13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 SERVICES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7857370" y="4170699"/>
            <a:ext cx="2103120" cy="13716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7909560" y="4123944"/>
            <a:ext cx="2066544" cy="183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View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7857370" y="4302252"/>
            <a:ext cx="2103120" cy="13716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7909560" y="4302252"/>
            <a:ext cx="2066544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&amp; Delete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7857370" y="4445796"/>
            <a:ext cx="2103120" cy="13716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7909560" y="4471416"/>
            <a:ext cx="2066544" cy="11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7857370" y="4582956"/>
            <a:ext cx="2103120" cy="13716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7891272" y="4594860"/>
            <a:ext cx="2066544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Search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664464" y="4710066"/>
            <a:ext cx="9515856" cy="565116"/>
          </a:xfrm>
          <a:prstGeom prst="roundRect">
            <a:avLst>
              <a:gd name="adj" fmla="val 48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713232" y="4773168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749808" y="4773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77240" y="4992624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795528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2322576" y="4992624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2340864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Data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3867912" y="4992624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886200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Analytical Data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5413248" y="4992624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5431536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Metadata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6940296" y="4972783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6976872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Audit Data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8503920" y="4992624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8" name="Text 136"/>
          <p:cNvSpPr/>
          <p:nvPr/>
        </p:nvSpPr>
        <p:spPr>
          <a:xfrm>
            <a:off x="8522208" y="5001768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Data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713232" y="5402551"/>
            <a:ext cx="9491472" cy="566928"/>
          </a:xfrm>
          <a:prstGeom prst="roundRect">
            <a:avLst>
              <a:gd name="adj" fmla="val 4839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713232" y="5431536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749808" y="5431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LAYER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777240" y="5650992"/>
            <a:ext cx="22631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Text 141"/>
          <p:cNvSpPr/>
          <p:nvPr/>
        </p:nvSpPr>
        <p:spPr>
          <a:xfrm>
            <a:off x="795528" y="5660136"/>
            <a:ext cx="22265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3046016" y="5641848"/>
            <a:ext cx="22631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3113532" y="5660136"/>
            <a:ext cx="22265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S3/ Glacier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5413248" y="5650992"/>
            <a:ext cx="22631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5431536" y="5660136"/>
            <a:ext cx="22265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(Cache)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7731252" y="5650992"/>
            <a:ext cx="22631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9" name="Text 147"/>
          <p:cNvSpPr/>
          <p:nvPr/>
        </p:nvSpPr>
        <p:spPr>
          <a:xfrm>
            <a:off x="7749540" y="5660136"/>
            <a:ext cx="22265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640080" y="6035040"/>
            <a:ext cx="9491472" cy="86868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713232" y="6089904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5B2EA6"/>
          </a:solidFill>
          <a:ln w="12700">
            <a:solidFill>
              <a:srgbClr val="5B2E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749808" y="6089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INFRASTRUCTURE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777240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Text 152"/>
          <p:cNvSpPr/>
          <p:nvPr/>
        </p:nvSpPr>
        <p:spPr>
          <a:xfrm>
            <a:off x="795528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 (State Data Center)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2322576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Text 154"/>
          <p:cNvSpPr/>
          <p:nvPr/>
        </p:nvSpPr>
        <p:spPr>
          <a:xfrm>
            <a:off x="2340864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RailTel Cloud / MITRA Server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3867912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Text 156"/>
          <p:cNvSpPr/>
          <p:nvPr/>
        </p:nvSpPr>
        <p:spPr>
          <a:xfrm>
            <a:off x="3886200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Cluster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5413248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5431536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6958584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6976872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CD Pipeline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8503920" y="6327648"/>
            <a:ext cx="14904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Text 162"/>
          <p:cNvSpPr/>
          <p:nvPr/>
        </p:nvSpPr>
        <p:spPr>
          <a:xfrm>
            <a:off x="8522208" y="6336792"/>
            <a:ext cx="1453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777240" y="6601968"/>
            <a:ext cx="1799539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795528" y="6611112"/>
            <a:ext cx="17629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2631643" y="6601968"/>
            <a:ext cx="1799539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Text 166"/>
          <p:cNvSpPr/>
          <p:nvPr/>
        </p:nvSpPr>
        <p:spPr>
          <a:xfrm>
            <a:off x="2649931" y="6611112"/>
            <a:ext cx="17629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4486046" y="6601968"/>
            <a:ext cx="1799539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Text 168"/>
          <p:cNvSpPr/>
          <p:nvPr/>
        </p:nvSpPr>
        <p:spPr>
          <a:xfrm>
            <a:off x="4504334" y="6611112"/>
            <a:ext cx="17629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6340450" y="6601968"/>
            <a:ext cx="1799539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Text 170"/>
          <p:cNvSpPr/>
          <p:nvPr/>
        </p:nvSpPr>
        <p:spPr>
          <a:xfrm>
            <a:off x="6358738" y="6611112"/>
            <a:ext cx="17629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Environment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8194853" y="6601968"/>
            <a:ext cx="1799539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Text 172"/>
          <p:cNvSpPr/>
          <p:nvPr/>
        </p:nvSpPr>
        <p:spPr>
          <a:xfrm>
            <a:off x="8213141" y="6611112"/>
            <a:ext cx="17629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Disaster Recovery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77" name="Graphic 176" descr="Database with solid fill">
            <a:extLst>
              <a:ext uri="{FF2B5EF4-FFF2-40B4-BE49-F238E27FC236}">
                <a16:creationId xmlns:a16="http://schemas.microsoft.com/office/drawing/2014/main" id="{8706407C-4C3E-DCB1-BFA1-9DC32E29B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5623560"/>
            <a:ext cx="948267" cy="256032"/>
          </a:xfrm>
          <a:prstGeom prst="rect">
            <a:avLst/>
          </a:prstGeom>
        </p:spPr>
      </p:pic>
      <p:pic>
        <p:nvPicPr>
          <p:cNvPr id="181" name="Graphic 180" descr="Paint with solid fill">
            <a:extLst>
              <a:ext uri="{FF2B5EF4-FFF2-40B4-BE49-F238E27FC236}">
                <a16:creationId xmlns:a16="http://schemas.microsoft.com/office/drawing/2014/main" id="{541BAA66-83ED-827D-1189-85775FF31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080493" y="5660136"/>
            <a:ext cx="705428" cy="219456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A953873F-8E9A-97AE-3D73-D08E214AE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064" y="5666637"/>
            <a:ext cx="694297" cy="212955"/>
          </a:xfrm>
          <a:prstGeom prst="rect">
            <a:avLst/>
          </a:prstGeom>
        </p:spPr>
      </p:pic>
      <p:pic>
        <p:nvPicPr>
          <p:cNvPr id="189" name="Graphic 188" descr="Pie chart with solid fill">
            <a:extLst>
              <a:ext uri="{FF2B5EF4-FFF2-40B4-BE49-F238E27FC236}">
                <a16:creationId xmlns:a16="http://schemas.microsoft.com/office/drawing/2014/main" id="{BD28534D-8350-4842-121C-CD413FEF8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048" y="5020660"/>
            <a:ext cx="738554" cy="192024"/>
          </a:xfrm>
          <a:prstGeom prst="rect">
            <a:avLst/>
          </a:prstGeom>
        </p:spPr>
      </p:pic>
      <p:pic>
        <p:nvPicPr>
          <p:cNvPr id="191" name="Graphic 190" descr="Server with solid fill">
            <a:extLst>
              <a:ext uri="{FF2B5EF4-FFF2-40B4-BE49-F238E27FC236}">
                <a16:creationId xmlns:a16="http://schemas.microsoft.com/office/drawing/2014/main" id="{3FF6B613-29D3-6F21-2654-C12041E6A7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717" y="5017383"/>
            <a:ext cx="203841" cy="203841"/>
          </a:xfrm>
          <a:prstGeom prst="rect">
            <a:avLst/>
          </a:prstGeom>
        </p:spPr>
      </p:pic>
      <p:pic>
        <p:nvPicPr>
          <p:cNvPr id="193" name="Graphic 192" descr="Folder Search with solid fill">
            <a:extLst>
              <a:ext uri="{FF2B5EF4-FFF2-40B4-BE49-F238E27FC236}">
                <a16:creationId xmlns:a16="http://schemas.microsoft.com/office/drawing/2014/main" id="{6FF62A07-B840-8870-8817-EE94050D6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0672" y="5650992"/>
            <a:ext cx="679002" cy="246888"/>
          </a:xfrm>
          <a:prstGeom prst="rect">
            <a:avLst/>
          </a:prstGeom>
        </p:spPr>
      </p:pic>
      <p:pic>
        <p:nvPicPr>
          <p:cNvPr id="195" name="Graphic 194" descr="Usb Stick with solid fill">
            <a:extLst>
              <a:ext uri="{FF2B5EF4-FFF2-40B4-BE49-F238E27FC236}">
                <a16:creationId xmlns:a16="http://schemas.microsoft.com/office/drawing/2014/main" id="{875DD72B-12F8-AD27-38F3-A3CD0AFD2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9103" y="5034205"/>
            <a:ext cx="472141" cy="192801"/>
          </a:xfrm>
          <a:prstGeom prst="rect">
            <a:avLst/>
          </a:prstGeom>
        </p:spPr>
      </p:pic>
      <p:pic>
        <p:nvPicPr>
          <p:cNvPr id="197" name="Graphic 196" descr="Table with solid fill">
            <a:extLst>
              <a:ext uri="{FF2B5EF4-FFF2-40B4-BE49-F238E27FC236}">
                <a16:creationId xmlns:a16="http://schemas.microsoft.com/office/drawing/2014/main" id="{EA5A1F62-43EE-1303-9BE1-196785AE8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1912" y="4992624"/>
            <a:ext cx="687748" cy="259828"/>
          </a:xfrm>
          <a:prstGeom prst="rect">
            <a:avLst/>
          </a:prstGeom>
        </p:spPr>
      </p:pic>
      <p:pic>
        <p:nvPicPr>
          <p:cNvPr id="199" name="Graphic 198" descr="Research with solid fill">
            <a:extLst>
              <a:ext uri="{FF2B5EF4-FFF2-40B4-BE49-F238E27FC236}">
                <a16:creationId xmlns:a16="http://schemas.microsoft.com/office/drawing/2014/main" id="{FF86CE42-44EC-BEDA-86D8-EB0948EB9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8348" y="5020660"/>
            <a:ext cx="611139" cy="173736"/>
          </a:xfrm>
          <a:prstGeom prst="rect">
            <a:avLst/>
          </a:prstGeom>
        </p:spPr>
      </p:pic>
      <p:pic>
        <p:nvPicPr>
          <p:cNvPr id="201" name="Graphic 200" descr="Clipboard Partially Checked with solid fill">
            <a:extLst>
              <a:ext uri="{FF2B5EF4-FFF2-40B4-BE49-F238E27FC236}">
                <a16:creationId xmlns:a16="http://schemas.microsoft.com/office/drawing/2014/main" id="{07B6F493-9BAE-1004-E69B-17EE04DF9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2208" y="5017383"/>
            <a:ext cx="388879" cy="203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-16764"/>
            <a:ext cx="12192000" cy="65836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737" y="92964"/>
            <a:ext cx="8961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Stack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52398" y="68834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components are open-source / community-supported. The 'Why' column justifies each selection for a scalable, on-prem project management platform.</a:t>
            </a:r>
            <a:endParaRPr lang="en-US" sz="9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01161"/>
              </p:ext>
            </p:extLst>
          </p:nvPr>
        </p:nvGraphicFramePr>
        <p:xfrm>
          <a:off x="68736" y="963676"/>
          <a:ext cx="12054523" cy="5542136"/>
        </p:xfrm>
        <a:graphic>
          <a:graphicData uri="http://schemas.openxmlformats.org/drawingml/2006/table">
            <a:tbl>
              <a:tblPr/>
              <a:tblGrid>
                <a:gridCol w="441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SL.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No.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/ Components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It's the Best Fit</a:t>
                      </a:r>
                      <a:endParaRPr lang="en-US" sz="10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System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licensing cost; industry-standard for server/container workloads; native Docker &amp; Kubernetes support; hardened kernel security.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91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Development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Java, Spring Boot, Spring JPA, Hibernate, React JS, HTML5, CSS3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Boot eliminates boilerplate; Hibernate/JPA abstracts PostgreSQL ORM; React delivers a fast SPA UI — all with LTS support and massive talent pools.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offers JSONB, advanced indexing, full-text search, and ACID compliance — ideal for complex project data models at zero licensing cost.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NoSQL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Elasticsearch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Best-in-class full-text &amp; faceted search across tasks and documents; sub-second queries across millions of records.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Connects natively to PostgreSQL; it offers a fast, user-friendly interface that lets anyone build interactive, clean data visualizations — no BI licensing fees or custom chart development.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Caching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Redis/</a:t>
                      </a:r>
                      <a:r>
                        <a:rPr lang="en-US" sz="1000" err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Valkey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In-memory store for session caching, rate limiting, and pub/sub messaging; reduces DB load by up to 80%.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Gateway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Kong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Seamless fit with Spring Boot microservices; provides routing, load balancing, rate limiting, and JWT validation out of the box.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Scripting Framework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JS, JavaScript, jQuery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React's virtual DOM and component model deliver maintainable UIs; largest frontend ecosystem with rich PM-UX library support.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Management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AWS S3/GLACIER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Open-source ECM with versioning, audit trails, workflow integration, and REST APIs — essential for project document compliance.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5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Container Management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Packages every service with its dependencies into portable images; eliminates environment drift and simplifies CI/CD across all stages.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Container Orchestration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Kubernetes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Automates deployment, auto-scaling, and self-healing; supports rolling updates and zero-downtime releases at enterprise scale.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Repository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Centralises code; enables PR-based code review; integrates with GitHub Actions for automated build, test, and deploy pipelines.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3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IDAM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In-house / JWT / Keycloak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Provides enterprise SSO, RBAC, OAuth 2.0, and OpenID Connect — eliminates custom auth code and enforces least-privilege access.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4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Performance Testing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Jmeter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Open-source load testing for REST APIs; simulates thousands of concurrent users to validate system performance before every release.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Prototype Design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Figma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Real-time collaborative UI/UX design with interactive prototypes; shortens feedback loops between designers, developers, and stakeholders.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9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F2937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Build Tool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Maven</a:t>
                      </a:r>
                      <a:endParaRPr lang="en-US" sz="10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Uses a standard project structure, handles dependencies automatically, and supports easy plugin management.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39988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671056"/>
            <a:ext cx="12192000" cy="3657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 Management (IAM) Plan 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9875520" y="16459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i="1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Keycloak (open-source) with OAuth 2.0 / OIDC. All access decisions enforced centrally via API Gateway + Spring Security. Zero-trust architecture: verify every request, least-privilege always.</a:t>
            </a:r>
            <a:endParaRPr lang="en-US" sz="75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346478"/>
              </p:ext>
            </p:extLst>
          </p:nvPr>
        </p:nvGraphicFramePr>
        <p:xfrm>
          <a:off x="76200" y="932688"/>
          <a:ext cx="12115800" cy="55732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IAM Component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Implementation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Benefit / Why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 the identity of every user before granting access to any resource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SSO with OAuth 2.0 / OpenID Connect; Spring Security adapter on each service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sign-on across all microservices; eliminates custom auth code; centrally audited login events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what authenticated users can see and do based on their role and context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RBAC via </a:t>
                      </a: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realm roles; JWT claims carry permissions; Spring Security @PreAuthorize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Least-privilege by default; fine-grained permission enforcement without service-level duplication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Roles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 discrete access levels aligned with project management workflow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· Project Manager · Developer · Viewer · External Stakeholder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Clear separation of duties; role-based data visibility; audit-ready for compliance reviews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Token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Mgmt</a:t>
                      </a:r>
                      <a:endParaRPr lang="en-US" sz="800" dirty="0" err="1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 short-lived signed tokens to represent authenticated sessions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access tokens (15 min TTL) + encrypted refresh tokens (7 days); token rotation on each refresh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Short-lived tokens minimize breach window; refresh rotation invalidates stolen tokens immediately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MFA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 a second verification factor for privileged and external accounts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MFA with OTP (Google Authenticator) and FIDO2 / </a:t>
                      </a: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WebAuthn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hardware keys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Protects against credential stuffing and phishing; FIDO2 is phishing-resistant by design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Auth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Secure machine-to-machine communication between microservices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OAuth 2.0 Client Credentials flow; each service has its own client ID &amp; secret in </a:t>
                      </a: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endParaRPr lang="en-US" sz="900" dirty="0" err="1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shared secrets between services; per-service identity enables precise audit trails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Security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 and enforce authorization at the API gateway before reaching backend services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Spring API Gateway validates JWT signature, expiry, and scopes on every inbound request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Centralized enforcement — a misconfigured service cannot bypass auth; reduces attack surface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&amp; Logging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all authentication events, access decisions, and admin actions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event logging; export to SIEM (Splunk / ELK); immutable audit log store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Enables forensic investigation, anomaly detection, and regulatory compliance (SOC 2, ISO 27001)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Secret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Mgmt</a:t>
                      </a:r>
                      <a:endParaRPr lang="en-US" sz="800" dirty="0" err="1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 and rotate credentials, API keys, and certificates outside application code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HashiCorp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Vault or Kubernetes Secrets (encrypted at rest); secrets injected at runtime via env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Secrets never in source code or config files; automatic rotation reduces credential exposure window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Session </a:t>
                      </a:r>
                      <a:r>
                        <a:rPr lang="en-US" sz="800" b="1" dirty="0" err="1">
                          <a:solidFill>
                            <a:srgbClr val="FFFFFF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Mgmt</a:t>
                      </a:r>
                      <a:endParaRPr lang="en-US" sz="800" dirty="0" err="1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user session lifetimes and support forced logout across all services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session timeouts; idle session expiry (30 min); admin-initiated global logout via OIDC backchannel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Prevents session hijacking; supports compliance requirements for session termination on role change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 Policy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Enforce strong credential standards for all local accounts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policy: min 12 chars, complexity, 90-day rotation, breach-password detection via </a:t>
                      </a: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HaveIBeenPwned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API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Reduces risk of credential-based attacks; breach detection blocks use of known-compromised passwords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Federation</a:t>
                      </a:r>
                      <a:endParaRPr lang="en-US" sz="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Integrate enterprise identity providers so users log in with existing corporate credentials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Keycloak</a:t>
                      </a:r>
                      <a:r>
                        <a:rPr lang="en-US" sz="900" dirty="0">
                          <a:solidFill>
                            <a:srgbClr val="1F2937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 LDAP / Active Directory federation; SAML 2.0 for legacy IdPs; social login optional</a:t>
                      </a:r>
                      <a:endParaRPr lang="en-US" sz="900" dirty="0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Unified identity across the enterprise; eliminates duplicate user stores; onboarding/offboarding automated via AD</a:t>
                      </a:r>
                      <a:endParaRPr lang="en-US" sz="9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565392"/>
            <a:ext cx="12192000" cy="36576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28600" y="6601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50"/>
          </a:p>
        </p:txBody>
      </p:sp>
      <p:sp>
        <p:nvSpPr>
          <p:cNvPr id="11" name="Text 8"/>
          <p:cNvSpPr/>
          <p:nvPr/>
        </p:nvSpPr>
        <p:spPr>
          <a:xfrm>
            <a:off x="3246120" y="6601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50"/>
          </a:p>
        </p:txBody>
      </p:sp>
      <p:sp>
        <p:nvSpPr>
          <p:cNvPr id="12" name="Text 9"/>
          <p:cNvSpPr/>
          <p:nvPr/>
        </p:nvSpPr>
        <p:spPr>
          <a:xfrm>
            <a:off x="6263640" y="6601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50"/>
          </a:p>
        </p:txBody>
      </p:sp>
      <p:sp>
        <p:nvSpPr>
          <p:cNvPr id="13" name="Text 10"/>
          <p:cNvSpPr/>
          <p:nvPr/>
        </p:nvSpPr>
        <p:spPr>
          <a:xfrm>
            <a:off x="9281160" y="6601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1232</Words>
  <Application>Microsoft Office PowerPoint</Application>
  <PresentationFormat>Widescreen</PresentationFormat>
  <Paragraphs>212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Architecture</dc:title>
  <dc:subject>PptxGenJS Presentation</dc:subject>
  <dc:creator>PptxGenJS</dc:creator>
  <cp:lastModifiedBy>Singh, Ankur</cp:lastModifiedBy>
  <cp:revision>5</cp:revision>
  <dcterms:created xsi:type="dcterms:W3CDTF">2026-08-20T05:01:14Z</dcterms:created>
  <dcterms:modified xsi:type="dcterms:W3CDTF">2026-08-25T06:00:05Z</dcterms:modified>
</cp:coreProperties>
</file>